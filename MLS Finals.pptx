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A5F90-A50A-D1F6-935E-3DDD11559A2C}" v="486" dt="2025-12-02T19:47:10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Human-Aligned Adversarial Defense: Combining Robust Features + PGD Training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CS/ML Security Final Project — </a:t>
            </a:r>
            <a:r>
              <a:rPr lang="en-US" i="1" dirty="0">
                <a:ea typeface="+mn-lt"/>
                <a:cs typeface="+mn-lt"/>
              </a:rPr>
              <a:t>University of Utah</a:t>
            </a:r>
          </a:p>
          <a:p>
            <a:r>
              <a:rPr lang="en-US" b="1" dirty="0">
                <a:ea typeface="+mn-lt"/>
                <a:cs typeface="+mn-lt"/>
              </a:rPr>
              <a:t>Student:</a:t>
            </a:r>
            <a:r>
              <a:rPr lang="en-US" dirty="0">
                <a:ea typeface="+mn-lt"/>
                <a:cs typeface="+mn-lt"/>
              </a:rPr>
              <a:t> Ananya Ananth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Date:</a:t>
            </a:r>
            <a:r>
              <a:rPr lang="en-US" dirty="0">
                <a:ea typeface="+mn-lt"/>
                <a:cs typeface="+mn-lt"/>
              </a:rPr>
              <a:t> 2nd December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5838-754A-36EB-191E-37BB4F3E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/>
              <a:t>Motivation: Why This Problem Matters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9399-104E-B8F8-E041-CD31B176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Deep neural networks are powerful but </a:t>
            </a:r>
            <a:r>
              <a:rPr lang="en-US" sz="1600" b="1">
                <a:ea typeface="+mn-lt"/>
                <a:cs typeface="+mn-lt"/>
              </a:rPr>
              <a:t>fragile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Tiny, imperceptible perturbations can force wrong predictions.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Standard models:</a:t>
            </a:r>
            <a:endParaRPr lang="en-US" sz="1600"/>
          </a:p>
          <a:p>
            <a:pPr lvl="1"/>
            <a:r>
              <a:rPr lang="en-US" sz="1600" b="1" dirty="0">
                <a:ea typeface="+mn-lt"/>
                <a:cs typeface="+mn-lt"/>
              </a:rPr>
              <a:t>High clean accuracy</a:t>
            </a:r>
            <a:r>
              <a:rPr lang="en-US" sz="1600" dirty="0">
                <a:ea typeface="+mn-lt"/>
                <a:cs typeface="+mn-lt"/>
              </a:rPr>
              <a:t>,</a:t>
            </a:r>
            <a:endParaRPr lang="en-US" sz="1600" dirty="0"/>
          </a:p>
          <a:p>
            <a:pPr lvl="1"/>
            <a:r>
              <a:rPr lang="en-US" sz="1600" b="1">
                <a:ea typeface="+mn-lt"/>
                <a:cs typeface="+mn-lt"/>
              </a:rPr>
              <a:t>0% adversarial robustness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Security-critical systems (medical, autonomous, finance) cannot tolerate this.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Key Question: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i="1">
                <a:ea typeface="+mn-lt"/>
                <a:cs typeface="+mn-lt"/>
              </a:rPr>
              <a:t>Can we build models that behave more like humans and don’t fall apart under adversarial manipulation?</a:t>
            </a:r>
            <a:endParaRPr lang="en-US" sz="1600"/>
          </a:p>
        </p:txBody>
      </p:sp>
      <p:pic>
        <p:nvPicPr>
          <p:cNvPr id="4" name="Picture 3" descr="A diagram of a dog and cat&#10;&#10;AI-generated content may be incorrect.">
            <a:extLst>
              <a:ext uri="{FF2B5EF4-FFF2-40B4-BE49-F238E27FC236}">
                <a16:creationId xmlns:a16="http://schemas.microsoft.com/office/drawing/2014/main" id="{5F673C30-4777-07FF-865E-A27ECA47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410109"/>
            <a:ext cx="5319062" cy="396269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546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33945-5C1A-74DB-0C74-11040B0B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 Statement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C86C-01B1-1A72-5215-FE19E3320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5255242" cy="4578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dirty="0">
                <a:ea typeface="+mn-lt"/>
                <a:cs typeface="+mn-lt"/>
              </a:rPr>
              <a:t>Most adversarial training methods rely heavily on </a:t>
            </a:r>
            <a:r>
              <a:rPr lang="en-US" sz="1500" b="1" dirty="0">
                <a:ea typeface="+mn-lt"/>
                <a:cs typeface="+mn-lt"/>
              </a:rPr>
              <a:t>non-robust features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ea typeface="+mn-lt"/>
                <a:cs typeface="+mn-lt"/>
              </a:rPr>
              <a:t> (predictive for ML models, irrelevant to humans).</a:t>
            </a:r>
            <a:endParaRPr lang="en-US" sz="1500" dirty="0"/>
          </a:p>
          <a:p>
            <a:r>
              <a:rPr lang="en-US" sz="1500" dirty="0">
                <a:ea typeface="+mn-lt"/>
                <a:cs typeface="+mn-lt"/>
              </a:rPr>
              <a:t>A research paper called "Adversarial Examples Are Not Bugs, They Are Features" (Ilyas et al. (2019)) showed existence of </a:t>
            </a:r>
            <a:r>
              <a:rPr lang="en-US" sz="1500" b="1" dirty="0">
                <a:ea typeface="+mn-lt"/>
                <a:cs typeface="+mn-lt"/>
              </a:rPr>
              <a:t>robust features</a:t>
            </a:r>
            <a:r>
              <a:rPr lang="en-US" sz="1500" dirty="0">
                <a:ea typeface="+mn-lt"/>
                <a:cs typeface="+mn-lt"/>
              </a:rPr>
              <a:t>:</a:t>
            </a:r>
            <a:endParaRPr lang="en-US" sz="1500" dirty="0"/>
          </a:p>
          <a:p>
            <a:pPr lvl="1"/>
            <a:r>
              <a:rPr lang="en-US" sz="1500" dirty="0">
                <a:ea typeface="+mn-lt"/>
                <a:cs typeface="+mn-lt"/>
              </a:rPr>
              <a:t>Human-aligned</a:t>
            </a:r>
            <a:endParaRPr lang="en-US" sz="1500" dirty="0"/>
          </a:p>
          <a:p>
            <a:pPr lvl="1"/>
            <a:r>
              <a:rPr lang="en-US" sz="1500" dirty="0">
                <a:ea typeface="+mn-lt"/>
                <a:cs typeface="+mn-lt"/>
              </a:rPr>
              <a:t>Naturally resistant to adversarial perturbations</a:t>
            </a:r>
            <a:endParaRPr lang="en-US" sz="1500" dirty="0"/>
          </a:p>
          <a:p>
            <a:r>
              <a:rPr lang="en-US" sz="1500" dirty="0">
                <a:ea typeface="+mn-lt"/>
                <a:cs typeface="+mn-lt"/>
              </a:rPr>
              <a:t>But:</a:t>
            </a:r>
            <a:endParaRPr lang="en-US" sz="1500" dirty="0"/>
          </a:p>
          <a:p>
            <a:pPr lvl="1"/>
            <a:r>
              <a:rPr lang="en-US" sz="1500" dirty="0">
                <a:ea typeface="+mn-lt"/>
                <a:cs typeface="+mn-lt"/>
              </a:rPr>
              <a:t>Training </a:t>
            </a:r>
            <a:r>
              <a:rPr lang="en-US" sz="1500" i="1" dirty="0">
                <a:ea typeface="+mn-lt"/>
                <a:cs typeface="+mn-lt"/>
              </a:rPr>
              <a:t>only</a:t>
            </a:r>
            <a:r>
              <a:rPr lang="en-US" sz="1500" dirty="0">
                <a:ea typeface="+mn-lt"/>
                <a:cs typeface="+mn-lt"/>
              </a:rPr>
              <a:t> on robust features reduces accuracy</a:t>
            </a:r>
            <a:endParaRPr lang="en-US" sz="1500" dirty="0"/>
          </a:p>
          <a:p>
            <a:pPr lvl="1"/>
            <a:r>
              <a:rPr lang="en-US" sz="1500" dirty="0">
                <a:ea typeface="+mn-lt"/>
                <a:cs typeface="+mn-lt"/>
              </a:rPr>
              <a:t>PGD alone improves robustness but loses interpretability</a:t>
            </a:r>
            <a:endParaRPr lang="en-US" sz="1500" dirty="0"/>
          </a:p>
          <a:p>
            <a:pPr lvl="1"/>
            <a:r>
              <a:rPr lang="en-US" sz="1500" b="1" dirty="0">
                <a:ea typeface="+mn-lt"/>
                <a:cs typeface="+mn-lt"/>
              </a:rPr>
              <a:t>Goal:</a:t>
            </a:r>
            <a:br>
              <a:rPr lang="en-US" sz="1500" b="1" dirty="0">
                <a:ea typeface="+mn-lt"/>
                <a:cs typeface="+mn-lt"/>
              </a:rPr>
            </a:br>
            <a:r>
              <a:rPr lang="en-US" sz="1500" b="1" dirty="0">
                <a:highlight>
                  <a:srgbClr val="FFFF00"/>
                </a:highlight>
                <a:ea typeface="+mn-lt"/>
                <a:cs typeface="+mn-lt"/>
              </a:rPr>
              <a:t>Combine robust human-aligned features + PGD adversarial training. See if we get a model that is </a:t>
            </a:r>
            <a:r>
              <a:rPr lang="en-US" sz="1500" i="1" dirty="0">
                <a:highlight>
                  <a:srgbClr val="FFFF00"/>
                </a:highlight>
                <a:ea typeface="+mn-lt"/>
                <a:cs typeface="+mn-lt"/>
              </a:rPr>
              <a:t>both</a:t>
            </a:r>
            <a:r>
              <a:rPr lang="en-US" sz="1500" dirty="0">
                <a:highlight>
                  <a:srgbClr val="FFFF00"/>
                </a:highlight>
                <a:ea typeface="+mn-lt"/>
                <a:cs typeface="+mn-lt"/>
              </a:rPr>
              <a:t> secure and human-like.</a:t>
            </a:r>
            <a:endParaRPr lang="en-US" sz="1500">
              <a:highlight>
                <a:srgbClr val="FFFF00"/>
              </a:highlight>
            </a:endParaRPr>
          </a:p>
        </p:txBody>
      </p:sp>
      <p:pic>
        <p:nvPicPr>
          <p:cNvPr id="4" name="Picture 3" descr="A diagram of a frog&#10;&#10;AI-generated content may be incorrect.">
            <a:extLst>
              <a:ext uri="{FF2B5EF4-FFF2-40B4-BE49-F238E27FC236}">
                <a16:creationId xmlns:a16="http://schemas.microsoft.com/office/drawing/2014/main" id="{8088FA2D-08ED-E0CF-5962-12C31166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9" t="-415" r="6407" b="116"/>
          <a:stretch>
            <a:fillRect/>
          </a:stretch>
        </p:blipFill>
        <p:spPr>
          <a:xfrm>
            <a:off x="5514526" y="2070412"/>
            <a:ext cx="6675468" cy="41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1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C33F9-1DB8-2C5B-390F-52BACDE1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47" y="431212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ea typeface="+mj-lt"/>
                <a:cs typeface="+mj-lt"/>
              </a:rPr>
              <a:t>Threat Model</a:t>
            </a:r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white box&#10;&#10;AI-generated content may be incorrect.">
            <a:extLst>
              <a:ext uri="{FF2B5EF4-FFF2-40B4-BE49-F238E27FC236}">
                <a16:creationId xmlns:a16="http://schemas.microsoft.com/office/drawing/2014/main" id="{861B19E3-E4B3-6479-931A-2A29E8CF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44" y="3090471"/>
            <a:ext cx="3445801" cy="34458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0F0E-4470-CDB5-2BCD-6E185F396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176" y="678955"/>
            <a:ext cx="5586448" cy="54097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ea typeface="+mn-lt"/>
                <a:cs typeface="+mn-lt"/>
              </a:rPr>
              <a:t>Attacker Capability Types:</a:t>
            </a:r>
            <a:endParaRPr lang="en-US" sz="1900" dirty="0"/>
          </a:p>
          <a:p>
            <a:r>
              <a:rPr lang="en-US" sz="1900" b="1" dirty="0">
                <a:ea typeface="+mn-lt"/>
                <a:cs typeface="+mn-lt"/>
              </a:rPr>
              <a:t>White-box attacker</a:t>
            </a:r>
            <a:endParaRPr lang="en-US" sz="1900" dirty="0"/>
          </a:p>
          <a:p>
            <a:pPr lvl="1"/>
            <a:r>
              <a:rPr lang="en-US" sz="1900" dirty="0">
                <a:ea typeface="+mn-lt"/>
                <a:cs typeface="+mn-lt"/>
              </a:rPr>
              <a:t>Has full access to model weights &amp; gradients</a:t>
            </a:r>
            <a:endParaRPr lang="en-US" sz="1900" dirty="0"/>
          </a:p>
          <a:p>
            <a:pPr lvl="1"/>
            <a:r>
              <a:rPr lang="en-US" sz="1900" dirty="0">
                <a:ea typeface="+mn-lt"/>
                <a:cs typeface="+mn-lt"/>
              </a:rPr>
              <a:t>Uses strong PGD (20-step, ε=8/255)</a:t>
            </a:r>
            <a:endParaRPr lang="en-US" sz="1900" dirty="0"/>
          </a:p>
          <a:p>
            <a:r>
              <a:rPr lang="en-US" sz="1900" b="1" dirty="0">
                <a:ea typeface="+mn-lt"/>
                <a:cs typeface="+mn-lt"/>
              </a:rPr>
              <a:t>Black-box attacker</a:t>
            </a:r>
            <a:endParaRPr lang="en-US" sz="1900" dirty="0"/>
          </a:p>
          <a:p>
            <a:pPr lvl="1"/>
            <a:r>
              <a:rPr lang="en-US" sz="1900" dirty="0">
                <a:ea typeface="+mn-lt"/>
                <a:cs typeface="+mn-lt"/>
              </a:rPr>
              <a:t>Cannot see gradients</a:t>
            </a:r>
            <a:endParaRPr lang="en-US" sz="1900" dirty="0"/>
          </a:p>
          <a:p>
            <a:pPr lvl="1"/>
            <a:r>
              <a:rPr lang="en-US" sz="1900" dirty="0">
                <a:ea typeface="+mn-lt"/>
                <a:cs typeface="+mn-lt"/>
              </a:rPr>
              <a:t>Uses a surrogate model to craft adversarial examples</a:t>
            </a:r>
            <a:endParaRPr lang="en-US" sz="1900" dirty="0"/>
          </a:p>
          <a:p>
            <a:pPr lvl="1"/>
            <a:r>
              <a:rPr lang="en-US" sz="1900" dirty="0">
                <a:ea typeface="+mn-lt"/>
                <a:cs typeface="+mn-lt"/>
              </a:rPr>
              <a:t>Uses the </a:t>
            </a:r>
            <a:r>
              <a:rPr lang="en-US" sz="1900" b="1" dirty="0">
                <a:ea typeface="+mn-lt"/>
                <a:cs typeface="+mn-lt"/>
              </a:rPr>
              <a:t>transferability</a:t>
            </a:r>
            <a:r>
              <a:rPr lang="en-US" sz="1900" dirty="0">
                <a:ea typeface="+mn-lt"/>
                <a:cs typeface="+mn-lt"/>
              </a:rPr>
              <a:t> phenomenon</a:t>
            </a:r>
          </a:p>
          <a:p>
            <a:pPr marL="457200" lvl="1" indent="0">
              <a:buNone/>
            </a:pPr>
            <a:r>
              <a:rPr lang="en-US" sz="1900" b="1" dirty="0">
                <a:ea typeface="+mn-lt"/>
                <a:cs typeface="+mn-lt"/>
              </a:rPr>
              <a:t>We evaluate BOTH:</a:t>
            </a:r>
            <a:endParaRPr lang="en-US" sz="1900" dirty="0"/>
          </a:p>
          <a:p>
            <a:r>
              <a:rPr lang="en-US" sz="1900" b="1" dirty="0">
                <a:ea typeface="+mn-lt"/>
                <a:cs typeface="+mn-lt"/>
              </a:rPr>
              <a:t>White-box robustness</a:t>
            </a:r>
            <a:r>
              <a:rPr lang="en-US" sz="1900" dirty="0">
                <a:ea typeface="+mn-lt"/>
                <a:cs typeface="+mn-lt"/>
              </a:rPr>
              <a:t> → PGD accuracy</a:t>
            </a:r>
            <a:endParaRPr lang="en-US" sz="1900" dirty="0"/>
          </a:p>
          <a:p>
            <a:r>
              <a:rPr lang="en-US" sz="1900" b="1" dirty="0">
                <a:ea typeface="+mn-lt"/>
                <a:cs typeface="+mn-lt"/>
              </a:rPr>
              <a:t>Black-box robustness</a:t>
            </a:r>
            <a:r>
              <a:rPr lang="en-US" sz="1900" dirty="0">
                <a:ea typeface="+mn-lt"/>
                <a:cs typeface="+mn-lt"/>
              </a:rPr>
              <a:t> → transfer attack matrix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ea typeface="+mn-lt"/>
                <a:cs typeface="+mn-lt"/>
              </a:rPr>
              <a:t>Real-world relevance: </a:t>
            </a:r>
            <a:r>
              <a:rPr lang="en-US" sz="1900" i="1" dirty="0">
                <a:ea typeface="+mn-lt"/>
                <a:cs typeface="+mn-lt"/>
              </a:rPr>
              <a:t>Black-box transfer attacks are the TRUE threat model for deployed ML systems.</a:t>
            </a:r>
            <a:endParaRPr lang="en-US" sz="1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9741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84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4_cifar10_tutorial">
            <a:extLst>
              <a:ext uri="{FF2B5EF4-FFF2-40B4-BE49-F238E27FC236}">
                <a16:creationId xmlns:a16="http://schemas.microsoft.com/office/drawing/2014/main" id="{382026EA-D425-C3B3-D2A3-CD2E12B945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5" b="83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E2C43-78DE-52A0-2DC4-4439189B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48" y="-2737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Datasets Used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268F5-75A4-56F7-BCAD-480EF1221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64" y="1672201"/>
            <a:ext cx="4443625" cy="4504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1. Standard CIFAR-10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Natural images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Contains robust + non-robust features</a:t>
            </a:r>
            <a:endParaRPr lang="en-US" sz="1800"/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2. Robust CIFAR-10 (Ilyas et al.)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Generated through robust feature synthesis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Contains </a:t>
            </a:r>
            <a:r>
              <a:rPr lang="en-US" sz="1800" b="1" dirty="0">
                <a:ea typeface="+mn-lt"/>
                <a:cs typeface="+mn-lt"/>
              </a:rPr>
              <a:t>only robust, human-aligned features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Naturally resistant to gradient-based attacks</a:t>
            </a:r>
            <a:endParaRPr lang="en-US" sz="1800"/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Why this matters: Training on this dataset forces the model to learn </a:t>
            </a:r>
            <a:r>
              <a:rPr lang="en-US" sz="1800" i="1" dirty="0">
                <a:ea typeface="+mn-lt"/>
                <a:cs typeface="+mn-lt"/>
              </a:rPr>
              <a:t>only human-relevant signals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4762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49B41-A9DB-2D9D-7AD1-1986DF0B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Models Trained (4 Baselines)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9AA67A-86DF-7721-4FE4-9FF16A6EFF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682518"/>
              </p:ext>
            </p:extLst>
          </p:nvPr>
        </p:nvGraphicFramePr>
        <p:xfrm>
          <a:off x="644056" y="2175146"/>
          <a:ext cx="10927830" cy="40676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69580">
                  <a:extLst>
                    <a:ext uri="{9D8B030D-6E8A-4147-A177-3AD203B41FA5}">
                      <a16:colId xmlns:a16="http://schemas.microsoft.com/office/drawing/2014/main" val="2705528891"/>
                    </a:ext>
                  </a:extLst>
                </a:gridCol>
                <a:gridCol w="5958250">
                  <a:extLst>
                    <a:ext uri="{9D8B030D-6E8A-4147-A177-3AD203B41FA5}">
                      <a16:colId xmlns:a16="http://schemas.microsoft.com/office/drawing/2014/main" val="2004157280"/>
                    </a:ext>
                  </a:extLst>
                </a:gridCol>
              </a:tblGrid>
              <a:tr h="63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Model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Description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363586"/>
                  </a:ext>
                </a:extLst>
              </a:tr>
              <a:tr h="63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/>
                        <a:t>Standard</a:t>
                      </a:r>
                      <a:endParaRPr lang="en-US" sz="2900"/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Normal training on CIFAR-10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154040"/>
                  </a:ext>
                </a:extLst>
              </a:tr>
              <a:tr h="1075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/>
                        <a:t>Robust Only</a:t>
                      </a:r>
                      <a:endParaRPr lang="en-US" sz="2900"/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Train on robust-feature dataset only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752629"/>
                  </a:ext>
                </a:extLst>
              </a:tr>
              <a:tr h="1075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/>
                        <a:t>PGD Only</a:t>
                      </a:r>
                      <a:endParaRPr lang="en-US" sz="2900"/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Adversarial training on standard CIFAR-10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23111"/>
                  </a:ext>
                </a:extLst>
              </a:tr>
              <a:tr h="63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/>
                        <a:t>Proposed (Robust + PGD)</a:t>
                      </a:r>
                      <a:endParaRPr lang="en-US" sz="2900"/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/>
                        <a:t>Mix robust dataset + PGD training</a:t>
                      </a:r>
                    </a:p>
                  </a:txBody>
                  <a:tcPr marL="145274" marR="145274" marT="72637" marB="7263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78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91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31E57-E73F-670F-A152-17E6C33A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White-Box Results (PGD Attack, ε=8/255)</a:t>
            </a:r>
            <a:endParaRPr lang="en-US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85D23-7818-96B2-752F-86ECE5C56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003" y="678021"/>
            <a:ext cx="6454897" cy="23340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ea typeface="+mn-lt"/>
                <a:cs typeface="+mn-lt"/>
              </a:rPr>
              <a:t>Interpretation:</a:t>
            </a:r>
            <a:endParaRPr lang="en-US" sz="1500" dirty="0"/>
          </a:p>
          <a:p>
            <a:r>
              <a:rPr lang="en-US" sz="1500" dirty="0">
                <a:ea typeface="+mn-lt"/>
                <a:cs typeface="+mn-lt"/>
              </a:rPr>
              <a:t>As expected, PGD-only is strongest in white-box.</a:t>
            </a:r>
            <a:endParaRPr lang="en-US" sz="1500" dirty="0"/>
          </a:p>
          <a:p>
            <a:r>
              <a:rPr lang="en-US" sz="1500" dirty="0" err="1">
                <a:ea typeface="+mn-lt"/>
                <a:cs typeface="+mn-lt"/>
              </a:rPr>
              <a:t>Robust+PGD</a:t>
            </a:r>
            <a:r>
              <a:rPr lang="en-US" sz="1500" dirty="0">
                <a:ea typeface="+mn-lt"/>
                <a:cs typeface="+mn-lt"/>
              </a:rPr>
              <a:t> is </a:t>
            </a:r>
            <a:r>
              <a:rPr lang="en-US" sz="1500" b="1" dirty="0">
                <a:ea typeface="+mn-lt"/>
                <a:cs typeface="+mn-lt"/>
              </a:rPr>
              <a:t>not</a:t>
            </a:r>
            <a:r>
              <a:rPr lang="en-US" sz="1500" dirty="0">
                <a:ea typeface="+mn-lt"/>
                <a:cs typeface="+mn-lt"/>
              </a:rPr>
              <a:t> highest under PGD → and that is OK. Because PGD relies on non-robust features that the robust dataset intentionally removes.</a:t>
            </a:r>
            <a:endParaRPr lang="en-US" sz="1500" dirty="0"/>
          </a:p>
          <a:p>
            <a:r>
              <a:rPr lang="en-US" sz="1500" dirty="0">
                <a:ea typeface="+mn-lt"/>
                <a:cs typeface="+mn-lt"/>
              </a:rPr>
              <a:t>White-box PGD does </a:t>
            </a:r>
            <a:r>
              <a:rPr lang="en-US" sz="1500" b="1" dirty="0">
                <a:ea typeface="+mn-lt"/>
                <a:cs typeface="+mn-lt"/>
              </a:rPr>
              <a:t>not</a:t>
            </a:r>
            <a:r>
              <a:rPr lang="en-US" sz="1500" dirty="0">
                <a:ea typeface="+mn-lt"/>
                <a:cs typeface="+mn-lt"/>
              </a:rPr>
              <a:t> reflect real-world attackers.</a:t>
            </a:r>
            <a:endParaRPr lang="en-US" sz="1500" dirty="0"/>
          </a:p>
          <a:p>
            <a:endParaRPr lang="en-US" sz="1500"/>
          </a:p>
          <a:p>
            <a:pPr marL="0" indent="0">
              <a:buNone/>
            </a:pPr>
            <a:endParaRPr lang="en-US" sz="1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B5F32-A5E6-05E8-4A47-17D01AA20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826877"/>
            <a:ext cx="5481509" cy="328890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115602-D7FC-E071-3345-82B7F43A0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59869"/>
              </p:ext>
            </p:extLst>
          </p:nvPr>
        </p:nvGraphicFramePr>
        <p:xfrm>
          <a:off x="6198781" y="3230936"/>
          <a:ext cx="5523084" cy="248078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52877">
                  <a:extLst>
                    <a:ext uri="{9D8B030D-6E8A-4147-A177-3AD203B41FA5}">
                      <a16:colId xmlns:a16="http://schemas.microsoft.com/office/drawing/2014/main" val="703788811"/>
                    </a:ext>
                  </a:extLst>
                </a:gridCol>
                <a:gridCol w="1816877">
                  <a:extLst>
                    <a:ext uri="{9D8B030D-6E8A-4147-A177-3AD203B41FA5}">
                      <a16:colId xmlns:a16="http://schemas.microsoft.com/office/drawing/2014/main" val="3908363999"/>
                    </a:ext>
                  </a:extLst>
                </a:gridCol>
                <a:gridCol w="1953330">
                  <a:extLst>
                    <a:ext uri="{9D8B030D-6E8A-4147-A177-3AD203B41FA5}">
                      <a16:colId xmlns:a16="http://schemas.microsoft.com/office/drawing/2014/main" val="2067538073"/>
                    </a:ext>
                  </a:extLst>
                </a:gridCol>
              </a:tblGrid>
              <a:tr h="60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Clean Accuracy (%)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Adversarial Accuracy (%)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289144"/>
                  </a:ext>
                </a:extLst>
              </a:tr>
              <a:tr h="42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Standard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93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257820"/>
                  </a:ext>
                </a:extLst>
              </a:tr>
              <a:tr h="42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Robust Only</a:t>
                      </a:r>
                    </a:p>
                  </a:txBody>
                  <a:tcPr marL="173887" marR="104332" marT="104332" marB="10433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74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18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269416"/>
                  </a:ext>
                </a:extLst>
              </a:tr>
              <a:tr h="42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PGD Only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82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43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274684"/>
                  </a:ext>
                </a:extLst>
              </a:tr>
              <a:tr h="60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Proposed (Robust + PGD)</a:t>
                      </a:r>
                    </a:p>
                  </a:txBody>
                  <a:tcPr marL="173887" marR="104332" marT="104332" marB="10433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71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</a:t>
                      </a:r>
                    </a:p>
                  </a:txBody>
                  <a:tcPr marL="173887" marR="104332" marT="104332" marB="1043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4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20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03E8-0126-859B-4FDB-48358641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Real-World Threat Model: Transfer Attacks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2445C-D3B8-3506-57C0-0B738E720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Why transfer attacks?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Attackers rarely have access to gradients.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They generate adversarial examples on a surrogate model.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examples transfer to the target.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Metric: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Transfer Attack Robustness</a:t>
            </a:r>
            <a:r>
              <a:rPr lang="en-US" dirty="0">
                <a:ea typeface="+mn-lt"/>
                <a:cs typeface="+mn-lt"/>
              </a:rPr>
              <a:t> = accuracy when attacked by another model.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This is the core security contribution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86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607B8D-5A6C-4ECB-9047-3836C51C1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84D6C4-24A3-44DC-9607-566CF5A22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70"/>
            <a:ext cx="6096000" cy="6856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F7300B-53A6-4A16-AA84-78597664F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5229" y="685800"/>
            <a:ext cx="47430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DC347-06B0-065B-B8D8-17E48F95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293" y="1259958"/>
            <a:ext cx="3232298" cy="24817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Transfer Attack Robustness Matrix (Your Heatmap)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EF3A-1945-733A-7FCE-8BD45F09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47" y="4062037"/>
            <a:ext cx="2934586" cy="1551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Each row is an attacker; each column is the model attacked.</a:t>
            </a:r>
          </a:p>
        </p:txBody>
      </p:sp>
      <p:pic>
        <p:nvPicPr>
          <p:cNvPr id="5" name="Picture 4" descr="A diagram of a heatmap&#10;&#10;AI-generated content may be incorrect.">
            <a:extLst>
              <a:ext uri="{FF2B5EF4-FFF2-40B4-BE49-F238E27FC236}">
                <a16:creationId xmlns:a16="http://schemas.microsoft.com/office/drawing/2014/main" id="{E0D46046-7FD3-D706-7E26-D66343457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2" r="2675" b="-108"/>
          <a:stretch>
            <a:fillRect/>
          </a:stretch>
        </p:blipFill>
        <p:spPr>
          <a:xfrm>
            <a:off x="5267417" y="1571"/>
            <a:ext cx="7986172" cy="68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1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4935-9F1A-32E1-32B8-66D6703F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Findings from Transfer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9F50-AA94-9C68-DEB8-E877C5984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1. Proposed Model = Highest Black-Box Robustness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Example: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Attacks from Standard → </a:t>
            </a:r>
            <a:r>
              <a:rPr lang="en-US" dirty="0" err="1">
                <a:ea typeface="+mn-lt"/>
                <a:cs typeface="+mn-lt"/>
              </a:rPr>
              <a:t>Robust+PGD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b="1" dirty="0">
                <a:ea typeface="+mn-lt"/>
                <a:cs typeface="+mn-lt"/>
              </a:rPr>
              <a:t>68.11%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Attacks from </a:t>
            </a:r>
            <a:r>
              <a:rPr lang="en-US" dirty="0" err="1">
                <a:ea typeface="+mn-lt"/>
                <a:cs typeface="+mn-lt"/>
              </a:rPr>
              <a:t>RobustOnly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Robust+PGD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b="1" dirty="0">
                <a:ea typeface="+mn-lt"/>
                <a:cs typeface="+mn-lt"/>
              </a:rPr>
              <a:t>63.58%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Attacks from </a:t>
            </a:r>
            <a:r>
              <a:rPr lang="en-US" dirty="0" err="1">
                <a:ea typeface="+mn-lt"/>
                <a:cs typeface="+mn-lt"/>
              </a:rPr>
              <a:t>PGDOnly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Robust+PGD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b="1" dirty="0">
                <a:ea typeface="+mn-lt"/>
                <a:cs typeface="+mn-lt"/>
              </a:rPr>
              <a:t>55.44%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is </a:t>
            </a:r>
            <a:r>
              <a:rPr lang="en-US" b="1" dirty="0">
                <a:ea typeface="+mn-lt"/>
                <a:cs typeface="+mn-lt"/>
              </a:rPr>
              <a:t>strong, consistent robustness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05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499E-E79A-67D7-EF0C-EAED5F68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Is My Model the Best in Transfer Robustness?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DA1D-295B-4527-B2CD-00421CE6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Because: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uses </a:t>
            </a:r>
            <a:r>
              <a:rPr lang="en-US" b="1" dirty="0">
                <a:ea typeface="+mn-lt"/>
                <a:cs typeface="+mn-lt"/>
              </a:rPr>
              <a:t>human-aligned features</a:t>
            </a:r>
            <a:r>
              <a:rPr lang="en-US" dirty="0">
                <a:ea typeface="+mn-lt"/>
                <a:cs typeface="+mn-lt"/>
              </a:rPr>
              <a:t> (from robust dataset)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Combined with </a:t>
            </a:r>
            <a:r>
              <a:rPr lang="en-US" b="1" dirty="0">
                <a:ea typeface="+mn-lt"/>
                <a:cs typeface="+mn-lt"/>
              </a:rPr>
              <a:t>PGD adversarial alignment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ignores model-specific non-robust patterns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Features generalize → harder to exploit even with surrogate models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means:️ </a:t>
            </a:r>
            <a:r>
              <a:rPr lang="en-US" b="1" dirty="0">
                <a:ea typeface="+mn-lt"/>
                <a:cs typeface="+mn-lt"/>
              </a:rPr>
              <a:t>The proposed model has better REAL-WORLD security.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006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062D5-4636-E4C7-AC9A-BC12D9D6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Comparison Table: Theory vs Reality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805876-AEAC-1F5D-460B-B453E40F6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585415"/>
              </p:ext>
            </p:extLst>
          </p:nvPr>
        </p:nvGraphicFramePr>
        <p:xfrm>
          <a:off x="1400485" y="2112579"/>
          <a:ext cx="9414973" cy="41928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0381">
                  <a:extLst>
                    <a:ext uri="{9D8B030D-6E8A-4147-A177-3AD203B41FA5}">
                      <a16:colId xmlns:a16="http://schemas.microsoft.com/office/drawing/2014/main" val="3284626553"/>
                    </a:ext>
                  </a:extLst>
                </a:gridCol>
                <a:gridCol w="2235992">
                  <a:extLst>
                    <a:ext uri="{9D8B030D-6E8A-4147-A177-3AD203B41FA5}">
                      <a16:colId xmlns:a16="http://schemas.microsoft.com/office/drawing/2014/main" val="4096760011"/>
                    </a:ext>
                  </a:extLst>
                </a:gridCol>
                <a:gridCol w="2235992">
                  <a:extLst>
                    <a:ext uri="{9D8B030D-6E8A-4147-A177-3AD203B41FA5}">
                      <a16:colId xmlns:a16="http://schemas.microsoft.com/office/drawing/2014/main" val="3906063401"/>
                    </a:ext>
                  </a:extLst>
                </a:gridCol>
                <a:gridCol w="2822608">
                  <a:extLst>
                    <a:ext uri="{9D8B030D-6E8A-4147-A177-3AD203B41FA5}">
                      <a16:colId xmlns:a16="http://schemas.microsoft.com/office/drawing/2014/main" val="2004538591"/>
                    </a:ext>
                  </a:extLst>
                </a:gridCol>
              </a:tblGrid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Model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White-box Robustness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Transfer Robustness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Security Verdict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110738"/>
                  </a:ext>
                </a:extLst>
              </a:tr>
              <a:tr h="542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Standard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❌ 0%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❌ low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Worst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48857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Robust Only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⚠️ low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✔ high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Human-aligned but incomplete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28306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PGD Only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✔ strong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⚠️ moderate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Strong white-box only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50816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Proposed</a:t>
                      </a:r>
                      <a:endParaRPr lang="en-US" sz="2400" dirty="0"/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⚠️ moderate</a:t>
                      </a:r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✔✔ highest</a:t>
                      </a:r>
                      <a:endParaRPr lang="en-US" sz="2400" dirty="0"/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Best overall real-world security</a:t>
                      </a:r>
                      <a:endParaRPr lang="en-US" sz="2400" dirty="0"/>
                    </a:p>
                  </a:txBody>
                  <a:tcPr marL="123318" marR="123318" marT="61659" marB="616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73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305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425C-3D4E-EF09-9C1D-E014177E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Interpretation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0032-6AAE-E8EF-EF21-BA4046AD1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"</a:t>
            </a:r>
            <a:r>
              <a:rPr lang="en-US" i="1" dirty="0">
                <a:ea typeface="+mn-lt"/>
                <a:cs typeface="+mn-lt"/>
              </a:rPr>
              <a:t>White-box PGD robustness does not equal real-world security.”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developed model: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Performs well under </a:t>
            </a:r>
            <a:r>
              <a:rPr lang="en-US" b="1" dirty="0">
                <a:ea typeface="+mn-lt"/>
                <a:cs typeface="+mn-lt"/>
              </a:rPr>
              <a:t>unknown attacker models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</a:t>
            </a:r>
            <a:r>
              <a:rPr lang="en-US" b="1" dirty="0">
                <a:ea typeface="+mn-lt"/>
                <a:cs typeface="+mn-lt"/>
              </a:rPr>
              <a:t>features that humans rely 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Is less dependent on brittle, non-robust signals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Shows </a:t>
            </a:r>
            <a:r>
              <a:rPr lang="en-US" b="1" dirty="0">
                <a:ea typeface="+mn-lt"/>
                <a:cs typeface="+mn-lt"/>
              </a:rPr>
              <a:t>superior black-box robustness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8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DE67-F6A5-99F3-F07C-BABE7EC7D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9530A-86D1-BC6C-B6F9-CB1380B7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Slightly lower white-box PGD robustness</a:t>
            </a:r>
          </a:p>
          <a:p>
            <a:r>
              <a:rPr lang="en-US" dirty="0">
                <a:ea typeface="+mn-lt"/>
                <a:cs typeface="+mn-lt"/>
              </a:rPr>
              <a:t>Model capacity (ResNet-18) limits performance</a:t>
            </a:r>
          </a:p>
          <a:p>
            <a:r>
              <a:rPr lang="en-US" dirty="0">
                <a:ea typeface="+mn-lt"/>
                <a:cs typeface="+mn-lt"/>
              </a:rPr>
              <a:t>Future work: WRN-34-10, TRADES, RRM-based feature alignment</a:t>
            </a:r>
          </a:p>
        </p:txBody>
      </p:sp>
    </p:spTree>
    <p:extLst>
      <p:ext uri="{BB962C8B-B14F-4D97-AF65-F5344CB8AC3E}">
        <p14:creationId xmlns:p14="http://schemas.microsoft.com/office/powerpoint/2010/main" val="332266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2A0B-B180-6C96-090E-5C92A2B6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Conclusion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8ED2-FF7B-C9C0-6F7F-00BE6184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“In a world where attackers rarely know your model,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white-box accuracy is not a reliable measure of security.”</a:t>
            </a:r>
            <a:endParaRPr lang="en-US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This model, trained on human-aligned robust features and hardened with PGD, demonstrates the strongest transfer robustness among all baselines.</a:t>
            </a:r>
            <a:endParaRPr lang="en-US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It is a secure model under realistic adversarial conditions as it is: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✔ Human-aligned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✔ Hard to fool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✔ Feature-generalized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✔ Black-box robust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Bottom Line: </a:t>
            </a:r>
            <a:r>
              <a:rPr lang="en-US" dirty="0">
                <a:solidFill>
                  <a:srgbClr val="FFC000"/>
                </a:solidFill>
                <a:ea typeface="+mn-lt"/>
                <a:cs typeface="+mn-lt"/>
              </a:rPr>
              <a:t>The developed model wins where it truly matters: real-world adversarial security </a:t>
            </a:r>
            <a:r>
              <a:rPr lang="en-US" dirty="0">
                <a:ea typeface="+mn-lt"/>
                <a:cs typeface="+mn-lt"/>
              </a:rPr>
              <a:t>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3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215B-FD6D-A7EA-E04D-A02EDCC4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407" y="2762797"/>
            <a:ext cx="2475187" cy="13387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311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Human-Aligned Adversarial Defense: Combining Robust Features + PGD Training</vt:lpstr>
      <vt:lpstr>Motivation: Why This Problem Matters</vt:lpstr>
      <vt:lpstr>Problem Statement</vt:lpstr>
      <vt:lpstr>Threat Model</vt:lpstr>
      <vt:lpstr>Datasets Used</vt:lpstr>
      <vt:lpstr>Models Trained (4 Baselines)</vt:lpstr>
      <vt:lpstr>White-Box Results (PGD Attack, ε=8/255)</vt:lpstr>
      <vt:lpstr>The Real-World Threat Model: Transfer Attacks</vt:lpstr>
      <vt:lpstr>Transfer Attack Robustness Matrix (Your Heatmap)</vt:lpstr>
      <vt:lpstr>Key Findings from Transfer Matrix</vt:lpstr>
      <vt:lpstr>Why Is My Model the Best in Transfer Robustness?</vt:lpstr>
      <vt:lpstr>Comparison Table: Theory vs Reality</vt:lpstr>
      <vt:lpstr>Security Interpretation</vt:lpstr>
      <vt:lpstr>Limitations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2025-12-02T18:24:14Z</dcterms:created>
  <dcterms:modified xsi:type="dcterms:W3CDTF">2025-12-02T19:47:26Z</dcterms:modified>
</cp:coreProperties>
</file>